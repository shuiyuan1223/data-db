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05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饮食管理 · 整体规划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475488"/>
            <a:ext cx="1463040" cy="201168"/>
          </a:xfrm>
          <a:prstGeom prst="rect">
            <a:avLst>
              <a:gd name="adj" fmla="val 18182"/>
            </a:avLst>
          </a:prstGeom>
          <a:solidFill>
            <a:srgbClr val="FEF0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75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三大核心模块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17317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04672"/>
            <a:ext cx="2395728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568196"/>
            <a:ext cx="237744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" y="914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" y="914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932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语音饮食录入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" y="1261872"/>
            <a:ext cx="749808" cy="18288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2618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即将上线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1517904"/>
            <a:ext cx="2212848" cy="0"/>
          </a:xfrm>
          <a:prstGeom prst="line">
            <a:avLst/>
          </a:prstGeom>
          <a:noFill/>
          <a:ln w="3810">
            <a:solidFill>
              <a:srgbClr val="CC5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700784"/>
            <a:ext cx="64008" cy="64008"/>
          </a:xfrm>
          <a:prstGeom prst="ellipse">
            <a:avLst/>
          </a:prstGeom>
          <a:solidFill>
            <a:srgbClr val="FF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60934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CC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口语化录入，自然语言解析食物与数量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2608" y="2011680"/>
            <a:ext cx="64008" cy="64008"/>
          </a:xfrm>
          <a:prstGeom prst="ellipse">
            <a:avLst/>
          </a:prstGeom>
          <a:solidFill>
            <a:srgbClr val="FF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2024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CC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模糊追问澄清，命中食物库精准条目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92608" y="2322576"/>
            <a:ext cx="64008" cy="64008"/>
          </a:xfrm>
          <a:prstGeom prst="ellipse">
            <a:avLst/>
          </a:prstGeom>
          <a:solidFill>
            <a:srgbClr val="FF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31136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CC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口头更正即可修改，三类修改规则覆盖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4592" y="2679192"/>
            <a:ext cx="2395728" cy="1783080"/>
          </a:xfrm>
          <a:prstGeom prst="rect">
            <a:avLst/>
          </a:prstGeom>
          <a:solidFill>
            <a:srgbClr val="FDF1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" y="2788920"/>
            <a:ext cx="274320" cy="274320"/>
          </a:xfrm>
          <a:prstGeom prst="ellipse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807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拍照饮食录入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3464" y="3136392"/>
            <a:ext cx="749808" cy="182880"/>
          </a:xfrm>
          <a:prstGeom prst="rect">
            <a:avLst>
              <a:gd name="adj" fmla="val 50000"/>
            </a:avLst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313639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持续推进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6032" y="3392424"/>
            <a:ext cx="2212848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575304"/>
            <a:ext cx="64008" cy="64008"/>
          </a:xfrm>
          <a:prstGeom prst="ellipse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4838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85%+ 图像识别准确率，行业第一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2608" y="3886200"/>
            <a:ext cx="64008" cy="64008"/>
          </a:xfrm>
          <a:prstGeom prst="ellipse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79476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分割模型支持一图多食物识别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92608" y="4197096"/>
            <a:ext cx="64008" cy="64008"/>
          </a:xfrm>
          <a:prstGeom prst="ellipse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4105656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覆盖包装食品，食物库持续扩充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64592" y="4553712"/>
            <a:ext cx="2395728" cy="1783080"/>
          </a:xfrm>
          <a:prstGeom prst="rect">
            <a:avLst/>
          </a:prstGeom>
          <a:solidFill>
            <a:srgbClr val="FA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" y="4663440"/>
            <a:ext cx="274320" cy="274320"/>
          </a:xfrm>
          <a:prstGeom prst="ellipse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681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饮食规划管理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83464" y="5010912"/>
            <a:ext cx="749808" cy="18288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89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" y="501091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8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 已集成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6032" y="5266944"/>
            <a:ext cx="2212848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" y="5449824"/>
            <a:ext cx="64008" cy="64008"/>
          </a:xfrm>
          <a:prstGeom prst="ellipse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已在 PHA 系统集成可视化仪表盘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2608" y="5760720"/>
            <a:ext cx="64008" cy="64008"/>
          </a:xfrm>
          <a:prstGeom prst="ellipse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56692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个性化分析：三档推荐 + GI 值参考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92608" y="6071616"/>
            <a:ext cx="64008" cy="64008"/>
          </a:xfrm>
          <a:prstGeom prst="ellipse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5980176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持续增强中，依赖数据库诉求落地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697480" y="777240"/>
            <a:ext cx="0" cy="589788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8138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语音饮食录入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6766560" y="850392"/>
            <a:ext cx="1005840" cy="27432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8503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即将上线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834640" y="1243584"/>
            <a:ext cx="51663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127101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唤起入口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34640" y="1435608"/>
            <a:ext cx="731520" cy="182880"/>
          </a:xfrm>
          <a:prstGeom prst="rect">
            <a:avLst>
              <a:gd name="adj" fmla="val 20000"/>
            </a:avLst>
          </a:prstGeom>
          <a:solidFill>
            <a:srgbClr val="C45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14356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系统相机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648456" y="1435608"/>
            <a:ext cx="731520" cy="182880"/>
          </a:xfrm>
          <a:prstGeom prst="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48456" y="14356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健康智能体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462272" y="1435608"/>
            <a:ext cx="731520" cy="182880"/>
          </a:xfrm>
          <a:prstGeom prst="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62272" y="14356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主对话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276088" y="1435608"/>
            <a:ext cx="731520" cy="182880"/>
          </a:xfrm>
          <a:prstGeom prst="rect">
            <a:avLst>
              <a:gd name="adj" fmla="val 20000"/>
            </a:avLst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76088" y="14356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智能体QA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834640" y="1664208"/>
            <a:ext cx="5166360" cy="1591056"/>
          </a:xfrm>
          <a:prstGeom prst="rect">
            <a:avLst/>
          </a:prstGeom>
          <a:solidFill>
            <a:srgbClr val="FEF6F5"/>
          </a:solidFill>
          <a:ln w="6350">
            <a:solidFill>
              <a:srgbClr val="F5C0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1664208"/>
            <a:ext cx="411480" cy="15910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23317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337560" y="17739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随口描述，智能理解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337560" y="209397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支持口语化表达，自动解析食物名称与数量。如「帮我记早饭吃了榴莲蛋糕和苹果派」，一句话完成录入，无需精确说法。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337560" y="298094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37560" y="298094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口语识别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251960" y="298094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51960" y="298094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多食物录入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834640" y="3310128"/>
            <a:ext cx="51663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3310128"/>
            <a:ext cx="411480" cy="1591056"/>
          </a:xfrm>
          <a:prstGeom prst="rect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34640" y="39776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337560" y="34198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模糊匹配，多轮澄清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337560" y="373989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遇到近似食物自动发起追问，逐步确认选择，精准命中食物库条目（含热量等营养数据）。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337560" y="462686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95A4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7560" y="462686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5A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智能追问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4251960" y="462686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95A4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51960" y="462686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5A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精准匹配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2834640" y="4956048"/>
            <a:ext cx="51663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34640" y="4956048"/>
            <a:ext cx="411480" cy="1591056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640" y="56235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337560" y="50657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自然修改，三类规则覆盖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337560" y="538581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同句内支持明确修改、模糊修改、多次修改，用户无需重新录入，口头更正即可完成。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337560" y="627278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897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37560" y="627278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8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明确修改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4251960" y="627278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897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51960" y="627278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8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模糊修改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5166360" y="6272784"/>
            <a:ext cx="841248" cy="18288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8897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66360" y="6272784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8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多次修改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8138160" y="777240"/>
            <a:ext cx="0" cy="589788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75320" y="81381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多种唤起入口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275320" y="1152144"/>
            <a:ext cx="3794760" cy="0"/>
          </a:xfrm>
          <a:prstGeom prst="line">
            <a:avLst/>
          </a:prstGeom>
          <a:noFill/>
          <a:ln w="12700">
            <a:solidFill>
              <a:srgbClr val="E889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343900" y="1188720"/>
            <a:ext cx="1764792" cy="2304288"/>
          </a:xfrm>
          <a:prstGeom prst="rect">
            <a:avLst>
              <a:gd name="adj" fmla="val 3109"/>
            </a:avLst>
          </a:prstGeom>
          <a:solidFill>
            <a:srgbClr val="FFF5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17052" y="1261872"/>
            <a:ext cx="1618488" cy="219456"/>
          </a:xfrm>
          <a:prstGeom prst="rect">
            <a:avLst>
              <a:gd name="adj" fmla="val 16667"/>
            </a:avLst>
          </a:prstGeom>
          <a:solidFill>
            <a:srgbClr val="C45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417052" y="1261872"/>
            <a:ext cx="1618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系统相机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8791956" y="1554480"/>
            <a:ext cx="868680" cy="1867662"/>
          </a:xfrm>
          <a:prstGeom prst="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57107" y="1741246"/>
            <a:ext cx="738378" cy="1559498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893683" y="1777822"/>
            <a:ext cx="665226" cy="1013674"/>
          </a:xfrm>
          <a:prstGeom prst="rect">
            <a:avLst/>
          </a:prstGeom>
          <a:solidFill>
            <a:srgbClr val="0A0A0A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48547" y="1869262"/>
            <a:ext cx="555498" cy="436659"/>
          </a:xfrm>
          <a:prstGeom prst="ellipse">
            <a:avLst/>
          </a:prstGeom>
          <a:solidFill>
            <a:srgbClr val="C88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85123" y="1896694"/>
            <a:ext cx="118872" cy="82296"/>
          </a:xfrm>
          <a:prstGeom prst="ellipse">
            <a:avLst/>
          </a:prstGeom>
          <a:solidFill>
            <a:srgbClr val="E8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9715" y="1914982"/>
            <a:ext cx="100584" cy="73152"/>
          </a:xfrm>
          <a:prstGeom prst="ellipse">
            <a:avLst/>
          </a:prstGeom>
          <a:solidFill>
            <a:srgbClr val="7A5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296019" y="1887550"/>
            <a:ext cx="118872" cy="82296"/>
          </a:xfrm>
          <a:prstGeom prst="ellipse">
            <a:avLst/>
          </a:prstGeom>
          <a:solidFill>
            <a:srgbClr val="D4B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30259" y="1850974"/>
            <a:ext cx="592074" cy="499039"/>
          </a:xfrm>
          <a:prstGeom prst="rect">
            <a:avLst/>
          </a:prstGeom>
          <a:solidFill>
            <a:srgbClr val="0A0A0A"/>
          </a:solidFill>
          <a:ln w="6350">
            <a:solidFill>
              <a:srgbClr val="FF444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30259" y="2427425"/>
            <a:ext cx="592074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88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米饭  92%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9134856" y="3099576"/>
            <a:ext cx="182880" cy="13716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69934" y="1601172"/>
            <a:ext cx="312725" cy="61633"/>
          </a:xfrm>
          <a:prstGeom prst="rect">
            <a:avLst>
              <a:gd name="adj" fmla="val 74181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35186" y="3332494"/>
            <a:ext cx="382219" cy="18677"/>
          </a:xfrm>
          <a:prstGeom prst="rect">
            <a:avLst>
              <a:gd name="adj" fmla="val 979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36708" y="1188720"/>
            <a:ext cx="1764792" cy="2304288"/>
          </a:xfrm>
          <a:prstGeom prst="rect">
            <a:avLst>
              <a:gd name="adj" fmla="val 3109"/>
            </a:avLst>
          </a:prstGeom>
          <a:solidFill>
            <a:srgbClr val="F1F8F1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09860" y="1261872"/>
            <a:ext cx="1618488" cy="219456"/>
          </a:xfrm>
          <a:prstGeom prst="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309860" y="1261872"/>
            <a:ext cx="1618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运动健康智能体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684764" y="1554480"/>
            <a:ext cx="868680" cy="1867662"/>
          </a:xfrm>
          <a:prstGeom prst="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749915" y="1741246"/>
            <a:ext cx="738378" cy="155949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3" name="Image 0" descr="C:\Users\Administrator\ppt_work\assets/voice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9915" y="1741246"/>
            <a:ext cx="738378" cy="1559498"/>
          </a:xfrm>
          <a:prstGeom prst="rect">
            <a:avLst/>
          </a:prstGeom>
        </p:spPr>
      </p:pic>
      <p:sp>
        <p:nvSpPr>
          <p:cNvPr id="114" name="Shape 111"/>
          <p:cNvSpPr/>
          <p:nvPr/>
        </p:nvSpPr>
        <p:spPr>
          <a:xfrm>
            <a:off x="10962742" y="1601172"/>
            <a:ext cx="312725" cy="61633"/>
          </a:xfrm>
          <a:prstGeom prst="rect">
            <a:avLst>
              <a:gd name="adj" fmla="val 89017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0927994" y="3332494"/>
            <a:ext cx="382219" cy="18677"/>
          </a:xfrm>
          <a:prstGeom prst="rect">
            <a:avLst>
              <a:gd name="adj" fmla="val 979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657332" y="1965366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0657332" y="2170808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1553444" y="2077425"/>
            <a:ext cx="27432" cy="186766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343900" y="3602736"/>
            <a:ext cx="1764792" cy="2304288"/>
          </a:xfrm>
          <a:prstGeom prst="rect">
            <a:avLst>
              <a:gd name="adj" fmla="val 3109"/>
            </a:avLst>
          </a:prstGeom>
          <a:solidFill>
            <a:srgbClr val="FEF6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417052" y="3675888"/>
            <a:ext cx="1618488" cy="219456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417052" y="3675888"/>
            <a:ext cx="1618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主对话 QA</a:t>
            </a:r>
            <a:endParaRPr lang="en-US" sz="700" dirty="0"/>
          </a:p>
        </p:txBody>
      </p:sp>
      <p:sp>
        <p:nvSpPr>
          <p:cNvPr id="122" name="Shape 119"/>
          <p:cNvSpPr/>
          <p:nvPr/>
        </p:nvSpPr>
        <p:spPr>
          <a:xfrm>
            <a:off x="8791956" y="3968496"/>
            <a:ext cx="868680" cy="1867662"/>
          </a:xfrm>
          <a:prstGeom prst="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8857107" y="4155262"/>
            <a:ext cx="738378" cy="155949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4" name="Image 1" descr="C:\Users\Administrator\ppt_work\assets/phone_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7107" y="4155262"/>
            <a:ext cx="738378" cy="1559498"/>
          </a:xfrm>
          <a:prstGeom prst="rect">
            <a:avLst/>
          </a:prstGeom>
        </p:spPr>
      </p:pic>
      <p:sp>
        <p:nvSpPr>
          <p:cNvPr id="125" name="Shape 121"/>
          <p:cNvSpPr/>
          <p:nvPr/>
        </p:nvSpPr>
        <p:spPr>
          <a:xfrm>
            <a:off x="9069934" y="4015188"/>
            <a:ext cx="312725" cy="61633"/>
          </a:xfrm>
          <a:prstGeom prst="rect">
            <a:avLst>
              <a:gd name="adj" fmla="val 89017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035186" y="5746510"/>
            <a:ext cx="382219" cy="18677"/>
          </a:xfrm>
          <a:prstGeom prst="rect">
            <a:avLst>
              <a:gd name="adj" fmla="val 979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8764524" y="4379382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8764524" y="4584824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9660636" y="4491441"/>
            <a:ext cx="27432" cy="186766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8930945" y="5122151"/>
            <a:ext cx="649773" cy="436659"/>
          </a:xfrm>
          <a:prstGeom prst="rect">
            <a:avLst>
              <a:gd name="adj" fmla="val 8376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8930945" y="5122151"/>
            <a:ext cx="649773" cy="436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帮我记午饭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鸡腿+米饭一碗</a:t>
            </a:r>
            <a:endParaRPr lang="en-US" sz="500" dirty="0"/>
          </a:p>
        </p:txBody>
      </p:sp>
      <p:sp>
        <p:nvSpPr>
          <p:cNvPr id="132" name="Shape 128"/>
          <p:cNvSpPr/>
          <p:nvPr/>
        </p:nvSpPr>
        <p:spPr>
          <a:xfrm>
            <a:off x="10236708" y="3602736"/>
            <a:ext cx="1764792" cy="2304288"/>
          </a:xfrm>
          <a:prstGeom prst="rect">
            <a:avLst>
              <a:gd name="adj" fmla="val 3109"/>
            </a:avLst>
          </a:prstGeom>
          <a:solidFill>
            <a:srgbClr val="FFF8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10309860" y="3675888"/>
            <a:ext cx="1618488" cy="219456"/>
          </a:xfrm>
          <a:prstGeom prst="rect">
            <a:avLst>
              <a:gd name="adj" fmla="val 16667"/>
            </a:avLst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10309860" y="3675888"/>
            <a:ext cx="1618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QA</a:t>
            </a:r>
            <a:endParaRPr lang="en-US" sz="700" dirty="0"/>
          </a:p>
        </p:txBody>
      </p:sp>
      <p:sp>
        <p:nvSpPr>
          <p:cNvPr id="135" name="Shape 131"/>
          <p:cNvSpPr/>
          <p:nvPr/>
        </p:nvSpPr>
        <p:spPr>
          <a:xfrm>
            <a:off x="10684764" y="3968496"/>
            <a:ext cx="868680" cy="1867662"/>
          </a:xfrm>
          <a:prstGeom prst="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749915" y="4155262"/>
            <a:ext cx="738378" cy="155949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7" name="Image 2" descr="C:\Users\Administrator\ppt_work\assets/voice_dem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49915" y="4155262"/>
            <a:ext cx="738378" cy="1559498"/>
          </a:xfrm>
          <a:prstGeom prst="rect">
            <a:avLst/>
          </a:prstGeom>
        </p:spPr>
      </p:pic>
      <p:sp>
        <p:nvSpPr>
          <p:cNvPr id="138" name="Shape 133"/>
          <p:cNvSpPr/>
          <p:nvPr/>
        </p:nvSpPr>
        <p:spPr>
          <a:xfrm>
            <a:off x="10962742" y="4015188"/>
            <a:ext cx="312725" cy="61633"/>
          </a:xfrm>
          <a:prstGeom prst="rect">
            <a:avLst>
              <a:gd name="adj" fmla="val 89017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10927994" y="5746510"/>
            <a:ext cx="382219" cy="18677"/>
          </a:xfrm>
          <a:prstGeom prst="rect">
            <a:avLst>
              <a:gd name="adj" fmla="val 979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10657332" y="4379382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10657332" y="4584824"/>
            <a:ext cx="27432" cy="149413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11553444" y="4491441"/>
            <a:ext cx="27432" cy="186766"/>
          </a:xfrm>
          <a:prstGeom prst="rect">
            <a:avLst>
              <a:gd name="adj" fmla="val 33333"/>
            </a:avLst>
          </a:prstGeom>
          <a:solidFill>
            <a:srgbClr val="3A3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11795760" y="66294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5A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拍照饮食录入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3429000" y="146304"/>
            <a:ext cx="1005840" cy="256032"/>
          </a:xfrm>
          <a:prstGeom prst="rect">
            <a:avLst>
              <a:gd name="adj" fmla="val 14286"/>
            </a:avLst>
          </a:prstGeom>
          <a:solidFill>
            <a:srgbClr val="FFF0EE"/>
          </a:solidFill>
          <a:ln w="6350">
            <a:solidFill>
              <a:srgbClr val="D9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46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5A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持续推进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2880" y="530352"/>
            <a:ext cx="6263640" cy="0"/>
          </a:xfrm>
          <a:prstGeom prst="line">
            <a:avLst/>
          </a:prstGeom>
          <a:noFill/>
          <a:ln w="19050">
            <a:solidFill>
              <a:srgbClr val="D95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40080"/>
            <a:ext cx="6263640" cy="896112"/>
          </a:xfrm>
          <a:prstGeom prst="rect">
            <a:avLst/>
          </a:prstGeom>
          <a:solidFill>
            <a:srgbClr val="FEF6F5"/>
          </a:solidFill>
          <a:ln w="6350">
            <a:solidFill>
              <a:srgbClr val="F5C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69494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94560" y="850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图像识别准确率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731520"/>
            <a:ext cx="0" cy="566928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731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行业第一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13632" y="10241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竞品最高 72%（CAL AI）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2880" y="1645920"/>
            <a:ext cx="62636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5448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6888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重量识别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条形码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0" y="16459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营养元素表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49240" y="164592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6263640" cy="256032"/>
          </a:xfrm>
          <a:prstGeom prst="rect">
            <a:avLst/>
          </a:prstGeom>
          <a:solidFill>
            <a:srgbClr val="FEF6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92024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85%+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6888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97680" y="1920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49240" y="192024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2176272"/>
            <a:ext cx="6263640" cy="256032"/>
          </a:xfrm>
          <a:prstGeom prst="rect">
            <a:avLst/>
          </a:prstGeom>
          <a:solidFill>
            <a:srgbClr val="F7F7F7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1762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 AI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5448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72%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6888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8328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97680" y="21762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9240" y="217627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付费·海外·等待80s+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" y="2432304"/>
            <a:ext cx="6263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43230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吃多少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5448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64%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6888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297680" y="24323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49240" y="243230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等待过长·付费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2880" y="2688336"/>
            <a:ext cx="6263640" cy="256032"/>
          </a:xfrm>
          <a:prstGeom prst="rect">
            <a:avLst/>
          </a:prstGeom>
          <a:solidFill>
            <a:srgbClr val="F7F7F7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26883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AQ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55448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58%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6888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8328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297680" y="26883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7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49240" y="26883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准确率不足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2880" y="3127248"/>
            <a:ext cx="6263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持续攻克的难点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3401568"/>
            <a:ext cx="62636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3401568"/>
            <a:ext cx="36576" cy="457200"/>
          </a:xfrm>
          <a:prstGeom prst="rect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34381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多食物复杂场景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2608" y="3648456"/>
            <a:ext cx="6062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分割-识别双模型，一图同时识别多种食物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3931920"/>
            <a:ext cx="62636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" y="3931920"/>
            <a:ext cx="36576" cy="457200"/>
          </a:xfrm>
          <a:prstGeom prst="rect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39684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识别匹配模型升级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92608" y="4178808"/>
            <a:ext cx="6062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多模态信息辅助 + 层级标签树，持续提升匹配精度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4462272"/>
            <a:ext cx="62636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4462272"/>
            <a:ext cx="36576" cy="457200"/>
          </a:xfrm>
          <a:prstGeom prst="rect">
            <a:avLst/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" y="44988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食物库持续丰富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2608" y="4709160"/>
            <a:ext cx="6062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对接外部数据源，定期增训，扩展工业包装食品识别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" y="5175504"/>
            <a:ext cx="6263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5A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拍照录入 · 交互流程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0332" y="5431536"/>
            <a:ext cx="1389888" cy="1115568"/>
          </a:xfrm>
          <a:prstGeom prst="rect">
            <a:avLst>
              <a:gd name="adj" fmla="val 5738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" y="5486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394460" y="552297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40180" y="556869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57884" y="5504688"/>
            <a:ext cx="274320" cy="237744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12748" y="5550408"/>
            <a:ext cx="164592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772" y="5833872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打开相机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1772" y="6089904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0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系统相机或扫码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769364" y="5897880"/>
            <a:ext cx="118872" cy="1828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69948" y="5431536"/>
            <a:ext cx="1389888" cy="1115568"/>
          </a:xfrm>
          <a:prstGeom prst="rect">
            <a:avLst>
              <a:gd name="adj" fmla="val 5738"/>
            </a:avLst>
          </a:prstGeom>
          <a:solidFill>
            <a:srgbClr val="D95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61388" y="5486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2866644" y="5522976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58084" y="5522976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49524" y="5522976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66644" y="5623560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58084" y="5623560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49524" y="5623560"/>
            <a:ext cx="73152" cy="7315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66644" y="5513832"/>
            <a:ext cx="256032" cy="219456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66644" y="5513832"/>
            <a:ext cx="256032" cy="219456"/>
          </a:xfrm>
          <a:prstGeom prst="rect">
            <a:avLst>
              <a:gd name="adj" fmla="val 12500"/>
            </a:avLst>
          </a:prstGeom>
          <a:solidFill>
            <a:srgbClr val="D95A4E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961388" y="5833872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视觉识别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961388" y="6089904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0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85%+ 准确识别食物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268980" y="5897880"/>
            <a:ext cx="118872" cy="1828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69564" y="5431536"/>
            <a:ext cx="1389888" cy="1115568"/>
          </a:xfrm>
          <a:prstGeom prst="rect">
            <a:avLst>
              <a:gd name="adj" fmla="val 5738"/>
            </a:avLst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61004" y="5486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4366260" y="5513832"/>
            <a:ext cx="25603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11980" y="5596128"/>
            <a:ext cx="64008" cy="91440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48556" y="5632704"/>
            <a:ext cx="128016" cy="64008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61004" y="5833872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确认食物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461004" y="6089904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0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调整食物与份量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768596" y="5897880"/>
            <a:ext cx="118872" cy="1828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69180" y="5431536"/>
            <a:ext cx="1389888" cy="1115568"/>
          </a:xfrm>
          <a:prstGeom prst="rect">
            <a:avLst>
              <a:gd name="adj" fmla="val 5738"/>
            </a:avLst>
          </a:prstGeom>
          <a:solidFill>
            <a:srgbClr val="E8A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60620" y="5486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5875020" y="5522976"/>
            <a:ext cx="237744" cy="54864"/>
          </a:xfrm>
          <a:prstGeom prst="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75020" y="5596128"/>
            <a:ext cx="237744" cy="54864"/>
          </a:xfrm>
          <a:prstGeom prst="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75020" y="5669280"/>
            <a:ext cx="237744" cy="54864"/>
          </a:xfrm>
          <a:prstGeom prst="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60620" y="5833872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营养入库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960620" y="6089904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0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自动计算营养素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583680" y="91440"/>
            <a:ext cx="0" cy="65379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20840" y="109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8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饮食规划管理</a:t>
            </a:r>
            <a:endParaRPr lang="en-US" sz="1550" dirty="0"/>
          </a:p>
        </p:txBody>
      </p:sp>
      <p:sp>
        <p:nvSpPr>
          <p:cNvPr id="101" name="Shape 99"/>
          <p:cNvSpPr/>
          <p:nvPr/>
        </p:nvSpPr>
        <p:spPr>
          <a:xfrm>
            <a:off x="9555480" y="146304"/>
            <a:ext cx="1188720" cy="256032"/>
          </a:xfrm>
          <a:prstGeom prst="rect">
            <a:avLst>
              <a:gd name="adj" fmla="val 14286"/>
            </a:avLst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55480" y="1463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 已集成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720840" y="530352"/>
            <a:ext cx="5257800" cy="0"/>
          </a:xfrm>
          <a:prstGeom prst="line">
            <a:avLst/>
          </a:prstGeom>
          <a:noFill/>
          <a:ln w="19050">
            <a:solidFill>
              <a:srgbClr val="E8897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20840" y="594360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饮食数据已在 PHA 系统完成可视化集成，持续增强个性化能力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720840" y="877824"/>
            <a:ext cx="5257800" cy="185525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</p:sp>
      <p:pic>
        <p:nvPicPr>
          <p:cNvPr id="106" name="Image 0" descr="C:\Users\Administrator\ppt_work\asse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877824"/>
            <a:ext cx="5257800" cy="1855258"/>
          </a:xfrm>
          <a:prstGeom prst="rect">
            <a:avLst/>
          </a:prstGeom>
        </p:spPr>
      </p:pic>
      <p:sp>
        <p:nvSpPr>
          <p:cNvPr id="107" name="Text 104"/>
          <p:cNvSpPr/>
          <p:nvPr/>
        </p:nvSpPr>
        <p:spPr>
          <a:xfrm>
            <a:off x="6720840" y="2751370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 系统  ·  可视化仪表盘  ·  热量 / 营养素 / 餐别明细</a:t>
            </a:r>
            <a:endParaRPr lang="en-US" sz="700" dirty="0"/>
          </a:p>
        </p:txBody>
      </p:sp>
      <p:sp>
        <p:nvSpPr>
          <p:cNvPr id="108" name="Shape 105"/>
          <p:cNvSpPr/>
          <p:nvPr/>
        </p:nvSpPr>
        <p:spPr>
          <a:xfrm>
            <a:off x="6720840" y="2961682"/>
            <a:ext cx="5257800" cy="1056632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</p:sp>
      <p:pic>
        <p:nvPicPr>
          <p:cNvPr id="109" name="Image 1" descr="C:\Users\Administrator\ppt_work\assets/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20840" y="2961682"/>
            <a:ext cx="5257800" cy="1056632"/>
          </a:xfrm>
          <a:prstGeom prst="rect">
            <a:avLst/>
          </a:prstGeom>
        </p:spPr>
      </p:pic>
      <p:sp>
        <p:nvSpPr>
          <p:cNvPr id="110" name="Text 106"/>
          <p:cNvSpPr/>
          <p:nvPr/>
        </p:nvSpPr>
        <p:spPr>
          <a:xfrm>
            <a:off x="6720840" y="4036601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 系统  ·  个性化分析  ·  GI 值 + 健康档案  →  三档推荐</a:t>
            </a:r>
            <a:endParaRPr lang="en-US" sz="700" dirty="0"/>
          </a:p>
        </p:txBody>
      </p:sp>
      <p:sp>
        <p:nvSpPr>
          <p:cNvPr id="111" name="Shape 107"/>
          <p:cNvSpPr/>
          <p:nvPr/>
        </p:nvSpPr>
        <p:spPr>
          <a:xfrm>
            <a:off x="6720840" y="4265201"/>
            <a:ext cx="5257800" cy="2364199"/>
          </a:xfrm>
          <a:prstGeom prst="rect">
            <a:avLst/>
          </a:prstGeom>
          <a:solidFill>
            <a:srgbClr val="FFFBFB"/>
          </a:solidFill>
          <a:ln w="9525">
            <a:solidFill>
              <a:srgbClr val="E8897E"/>
            </a:solidFill>
            <a:prstDash val="dash"/>
          </a:ln>
        </p:spPr>
      </p:sp>
      <p:sp>
        <p:nvSpPr>
          <p:cNvPr id="112" name="Shape 108"/>
          <p:cNvSpPr/>
          <p:nvPr/>
        </p:nvSpPr>
        <p:spPr>
          <a:xfrm>
            <a:off x="10241280" y="4265201"/>
            <a:ext cx="1737360" cy="256032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09"/>
          <p:cNvSpPr/>
          <p:nvPr/>
        </p:nvSpPr>
        <p:spPr>
          <a:xfrm>
            <a:off x="10241280" y="4265201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 PHA 能力的诉求</a:t>
            </a:r>
            <a:endParaRPr lang="en-US" sz="750" dirty="0"/>
          </a:p>
        </p:txBody>
      </p:sp>
      <p:sp>
        <p:nvSpPr>
          <p:cNvPr id="114" name="Shape 110"/>
          <p:cNvSpPr/>
          <p:nvPr/>
        </p:nvSpPr>
        <p:spPr>
          <a:xfrm>
            <a:off x="6830568" y="4594385"/>
            <a:ext cx="5038344" cy="962643"/>
          </a:xfrm>
          <a:prstGeom prst="rect">
            <a:avLst/>
          </a:prstGeom>
          <a:solidFill>
            <a:srgbClr val="FFFFFF"/>
          </a:solidFill>
          <a:ln w="6350">
            <a:solidFill>
              <a:srgbClr val="F5C4B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6830568" y="4594385"/>
            <a:ext cx="36576" cy="962643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6940296" y="4667537"/>
            <a:ext cx="4855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数据个性化分析</a:t>
            </a:r>
            <a:endParaRPr lang="en-US" sz="950" dirty="0"/>
          </a:p>
        </p:txBody>
      </p:sp>
      <p:sp>
        <p:nvSpPr>
          <p:cNvPr id="117" name="Text 113"/>
          <p:cNvSpPr/>
          <p:nvPr/>
        </p:nvSpPr>
        <p:spPr>
          <a:xfrm>
            <a:off x="6940296" y="4923569"/>
            <a:ext cx="4855464" cy="56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当前分析仅基于热量 + 大营养素，精准度有限。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诉求：食物库补充微量元素 &amp; GI 值，支持深度个性化健康分析。</a:t>
            </a:r>
            <a:endParaRPr lang="en-US" sz="800" dirty="0"/>
          </a:p>
        </p:txBody>
      </p:sp>
      <p:sp>
        <p:nvSpPr>
          <p:cNvPr id="118" name="Shape 114"/>
          <p:cNvSpPr/>
          <p:nvPr/>
        </p:nvSpPr>
        <p:spPr>
          <a:xfrm>
            <a:off x="6830568" y="5648469"/>
            <a:ext cx="5038344" cy="962643"/>
          </a:xfrm>
          <a:prstGeom prst="rect">
            <a:avLst/>
          </a:prstGeom>
          <a:solidFill>
            <a:srgbClr val="FFFFFF"/>
          </a:solidFill>
          <a:ln w="6350">
            <a:solidFill>
              <a:srgbClr val="F5C4BF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830568" y="5648469"/>
            <a:ext cx="36576" cy="962643"/>
          </a:xfrm>
          <a:prstGeom prst="rect">
            <a:avLst/>
          </a:prstGeom>
          <a:solidFill>
            <a:srgbClr val="E88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6940296" y="5721621"/>
            <a:ext cx="4855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条形码食品库</a:t>
            </a:r>
            <a:endParaRPr lang="en-US" sz="950" dirty="0"/>
          </a:p>
        </p:txBody>
      </p:sp>
      <p:sp>
        <p:nvSpPr>
          <p:cNvPr id="121" name="Text 117"/>
          <p:cNvSpPr/>
          <p:nvPr/>
        </p:nvSpPr>
        <p:spPr>
          <a:xfrm>
            <a:off x="6940296" y="5977653"/>
            <a:ext cx="4855464" cy="56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用户扫码自动弹出产品信息并完成营养录入。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诉求：采购三方条形码数据库，覆盖商超常见品类。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11795760" y="66294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2026-03-24T03:42:20Z</dcterms:created>
  <dcterms:modified xsi:type="dcterms:W3CDTF">2026-03-24T03:42:20Z</dcterms:modified>
</cp:coreProperties>
</file>